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94" r:id="rId2"/>
    <p:sldId id="433" r:id="rId3"/>
    <p:sldId id="423" r:id="rId4"/>
    <p:sldId id="434" r:id="rId5"/>
    <p:sldId id="42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43" r:id="rId14"/>
    <p:sldId id="444" r:id="rId15"/>
    <p:sldId id="442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52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2D6A"/>
    <a:srgbClr val="8E0000"/>
    <a:srgbClr val="F4F4F4"/>
    <a:srgbClr val="4472C4"/>
    <a:srgbClr val="01384A"/>
    <a:srgbClr val="C8743E"/>
    <a:srgbClr val="262626"/>
    <a:srgbClr val="115054"/>
    <a:srgbClr val="2C4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0522" autoAdjust="0"/>
  </p:normalViewPr>
  <p:slideViewPr>
    <p:cSldViewPr snapToGrid="0" showGuides="1">
      <p:cViewPr varScale="1">
        <p:scale>
          <a:sx n="57" d="100"/>
          <a:sy n="57" d="100"/>
        </p:scale>
        <p:origin x="42" y="972"/>
      </p:cViewPr>
      <p:guideLst>
        <p:guide orient="horz" pos="73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D21606-E1F2-4B97-92D1-DAFD45C02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E7504-E995-4FB2-8A43-D5D7468BF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2224D-1184-45AE-8BA6-1991448FAB4A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423F3-CAF7-4940-839A-645C7FDAD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01FC86-7DA0-458D-A79F-F298A2B27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0067-DAD4-47D5-9E01-EB118C352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86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B575A-33D8-471D-8367-A965AB842AA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702A0-409D-4B63-B3B2-61BA02D306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9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73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E6F34-DD57-F70B-AD4D-058AFEA5CC6F}"/>
              </a:ext>
            </a:extLst>
          </p:cNvPr>
          <p:cNvSpPr/>
          <p:nvPr userDrawn="1"/>
        </p:nvSpPr>
        <p:spPr>
          <a:xfrm>
            <a:off x="0" y="6134668"/>
            <a:ext cx="12192000" cy="723332"/>
          </a:xfrm>
          <a:prstGeom prst="rect">
            <a:avLst/>
          </a:prstGeom>
          <a:solidFill>
            <a:srgbClr val="012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4" descr="경운대 시그니쳐 국문 세로형">
            <a:extLst>
              <a:ext uri="{FF2B5EF4-FFF2-40B4-BE49-F238E27FC236}">
                <a16:creationId xmlns:a16="http://schemas.microsoft.com/office/drawing/2014/main" id="{4EC56D84-CE62-0522-0E0F-E9EC996E70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62" y="93915"/>
            <a:ext cx="1568871" cy="31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85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56A8F1-AFFA-47E0-FB01-815F4F4BBE4C}"/>
              </a:ext>
            </a:extLst>
          </p:cNvPr>
          <p:cNvSpPr/>
          <p:nvPr userDrawn="1"/>
        </p:nvSpPr>
        <p:spPr>
          <a:xfrm>
            <a:off x="0" y="6134668"/>
            <a:ext cx="12192000" cy="723332"/>
          </a:xfrm>
          <a:prstGeom prst="rect">
            <a:avLst/>
          </a:prstGeom>
          <a:solidFill>
            <a:srgbClr val="C87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581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3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3F7E24-3C5D-4443-AFE4-4BA3151E66DE}"/>
              </a:ext>
            </a:extLst>
          </p:cNvPr>
          <p:cNvSpPr/>
          <p:nvPr userDrawn="1"/>
        </p:nvSpPr>
        <p:spPr>
          <a:xfrm>
            <a:off x="0" y="6134668"/>
            <a:ext cx="12192000" cy="723332"/>
          </a:xfrm>
          <a:prstGeom prst="rect">
            <a:avLst/>
          </a:prstGeom>
          <a:solidFill>
            <a:srgbClr val="013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23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DEFF703-6D0A-12DA-4F9C-253FA7939A0C}"/>
              </a:ext>
            </a:extLst>
          </p:cNvPr>
          <p:cNvSpPr/>
          <p:nvPr userDrawn="1"/>
        </p:nvSpPr>
        <p:spPr>
          <a:xfrm>
            <a:off x="0" y="0"/>
            <a:ext cx="609600" cy="6858001"/>
          </a:xfrm>
          <a:prstGeom prst="rect">
            <a:avLst/>
          </a:prstGeom>
          <a:solidFill>
            <a:srgbClr val="012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3DF3A"/>
              </a:solidFill>
            </a:endParaRPr>
          </a:p>
        </p:txBody>
      </p:sp>
      <p:pic>
        <p:nvPicPr>
          <p:cNvPr id="2" name="Picture 4" descr="경운대 시그니쳐 국문 세로형">
            <a:extLst>
              <a:ext uri="{FF2B5EF4-FFF2-40B4-BE49-F238E27FC236}">
                <a16:creationId xmlns:a16="http://schemas.microsoft.com/office/drawing/2014/main" id="{43298526-AD58-1323-5CC8-AA1DF19E38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62" y="93915"/>
            <a:ext cx="1568871" cy="31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994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EDCA37A-8397-42FE-9DF0-4199D2B82657}"/>
              </a:ext>
            </a:extLst>
          </p:cNvPr>
          <p:cNvSpPr/>
          <p:nvPr userDrawn="1"/>
        </p:nvSpPr>
        <p:spPr>
          <a:xfrm>
            <a:off x="1146628" y="-1"/>
            <a:ext cx="2612572" cy="6858001"/>
          </a:xfrm>
          <a:prstGeom prst="rect">
            <a:avLst/>
          </a:prstGeom>
          <a:solidFill>
            <a:srgbClr val="012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3DF3A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82F272-A6EB-492A-81F9-8C1D897B16C2}"/>
              </a:ext>
            </a:extLst>
          </p:cNvPr>
          <p:cNvSpPr/>
          <p:nvPr userDrawn="1"/>
        </p:nvSpPr>
        <p:spPr>
          <a:xfrm>
            <a:off x="5007429" y="0"/>
            <a:ext cx="71845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2815476-60D9-B3A4-A3F7-4E84F0A36B51}"/>
              </a:ext>
            </a:extLst>
          </p:cNvPr>
          <p:cNvCxnSpPr>
            <a:cxnSpLocks/>
          </p:cNvCxnSpPr>
          <p:nvPr userDrawn="1"/>
        </p:nvCxnSpPr>
        <p:spPr>
          <a:xfrm>
            <a:off x="3759200" y="3135086"/>
            <a:ext cx="8432800" cy="0"/>
          </a:xfrm>
          <a:prstGeom prst="line">
            <a:avLst/>
          </a:prstGeom>
          <a:ln w="6350">
            <a:solidFill>
              <a:srgbClr val="012D6A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경운대 시그니쳐 국문 세로형">
            <a:extLst>
              <a:ext uri="{FF2B5EF4-FFF2-40B4-BE49-F238E27FC236}">
                <a16:creationId xmlns:a16="http://schemas.microsoft.com/office/drawing/2014/main" id="{3AD5DE8D-CF8B-27A5-97B4-331B0EEC6E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62" y="93915"/>
            <a:ext cx="1568871" cy="31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601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35254-E8CC-4107-BAB3-2D503DF0BBA9}"/>
              </a:ext>
            </a:extLst>
          </p:cNvPr>
          <p:cNvSpPr txBox="1"/>
          <p:nvPr userDrawn="1"/>
        </p:nvSpPr>
        <p:spPr>
          <a:xfrm>
            <a:off x="11363067" y="6211884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Light" panose="00000300000000000000" pitchFamily="2" charset="-127"/>
              </a:rPr>
              <a:pPr algn="ctr"/>
              <a:t>‹#›</a:t>
            </a:fld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Light" panose="000003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5577CD6-5A45-4988-9298-FAC45821B30C}"/>
              </a:ext>
            </a:extLst>
          </p:cNvPr>
          <p:cNvCxnSpPr/>
          <p:nvPr userDrawn="1"/>
        </p:nvCxnSpPr>
        <p:spPr>
          <a:xfrm>
            <a:off x="11547567" y="6444919"/>
            <a:ext cx="25200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2E72D198-9532-4DC7-A14A-C275A93777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036" y="115638"/>
            <a:ext cx="5576964" cy="62442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000" kern="100" spc="-80" baseline="0">
                <a:solidFill>
                  <a:srgbClr val="012D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Insert Slide Title Here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9D61C4-750A-4D61-B1CB-8E4516F9F89F}"/>
              </a:ext>
            </a:extLst>
          </p:cNvPr>
          <p:cNvSpPr/>
          <p:nvPr userDrawn="1"/>
        </p:nvSpPr>
        <p:spPr>
          <a:xfrm>
            <a:off x="0" y="6530859"/>
            <a:ext cx="12192000" cy="327142"/>
          </a:xfrm>
          <a:prstGeom prst="rect">
            <a:avLst/>
          </a:prstGeom>
          <a:solidFill>
            <a:srgbClr val="012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3DF3A"/>
              </a:solidFill>
            </a:endParaRPr>
          </a:p>
        </p:txBody>
      </p:sp>
      <p:pic>
        <p:nvPicPr>
          <p:cNvPr id="2" name="Picture 4" descr="경운대 시그니쳐 국문 세로형">
            <a:extLst>
              <a:ext uri="{FF2B5EF4-FFF2-40B4-BE49-F238E27FC236}">
                <a16:creationId xmlns:a16="http://schemas.microsoft.com/office/drawing/2014/main" id="{31D66F8F-524D-D3D4-E38A-FD6E78FE2D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62" y="93915"/>
            <a:ext cx="1568871" cy="31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089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DCC1D36-6D53-CE18-78C3-85DECE39C01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12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4" descr="경운대 시그니쳐 국문 세로형">
            <a:extLst>
              <a:ext uri="{FF2B5EF4-FFF2-40B4-BE49-F238E27FC236}">
                <a16:creationId xmlns:a16="http://schemas.microsoft.com/office/drawing/2014/main" id="{B5ABF9E3-AB34-3AEC-4F6B-C9BE03E92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62" y="93915"/>
            <a:ext cx="1568871" cy="3137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09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경운대 시그니쳐 국문 세로형">
            <a:extLst>
              <a:ext uri="{FF2B5EF4-FFF2-40B4-BE49-F238E27FC236}">
                <a16:creationId xmlns:a16="http://schemas.microsoft.com/office/drawing/2014/main" id="{C389C341-BBAC-63DE-46D7-05E14529A5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62" y="93915"/>
            <a:ext cx="1568871" cy="31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31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514ED904-6F12-0175-3109-D37C4594D19B}"/>
              </a:ext>
            </a:extLst>
          </p:cNvPr>
          <p:cNvGrpSpPr/>
          <p:nvPr/>
        </p:nvGrpSpPr>
        <p:grpSpPr>
          <a:xfrm>
            <a:off x="-2958530" y="-304607"/>
            <a:ext cx="2564008" cy="2505382"/>
            <a:chOff x="938705" y="667984"/>
            <a:chExt cx="2564008" cy="250538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2D2B76-C591-E65B-889F-9123990961D2}"/>
                </a:ext>
              </a:extLst>
            </p:cNvPr>
            <p:cNvSpPr txBox="1"/>
            <p:nvPr/>
          </p:nvSpPr>
          <p:spPr>
            <a:xfrm>
              <a:off x="964181" y="667984"/>
              <a:ext cx="46980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2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COLOR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7F24A9-01A7-DBD5-B082-5F95A9CB0E35}"/>
                </a:ext>
              </a:extLst>
            </p:cNvPr>
            <p:cNvSpPr txBox="1"/>
            <p:nvPr/>
          </p:nvSpPr>
          <p:spPr>
            <a:xfrm>
              <a:off x="964181" y="2143671"/>
              <a:ext cx="89300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2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FONT COLOR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791172D-98D4-B098-67D6-F35403622B44}"/>
                </a:ext>
              </a:extLst>
            </p:cNvPr>
            <p:cNvSpPr/>
            <p:nvPr/>
          </p:nvSpPr>
          <p:spPr>
            <a:xfrm>
              <a:off x="938705" y="2450034"/>
              <a:ext cx="723332" cy="723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7F70B6F-EE5E-3444-6F74-8772A64C6B51}"/>
                </a:ext>
              </a:extLst>
            </p:cNvPr>
            <p:cNvSpPr/>
            <p:nvPr/>
          </p:nvSpPr>
          <p:spPr>
            <a:xfrm>
              <a:off x="938705" y="978695"/>
              <a:ext cx="718458" cy="739483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0110A09-C10A-49E4-E636-B32BF34DB60C}"/>
                </a:ext>
              </a:extLst>
            </p:cNvPr>
            <p:cNvSpPr/>
            <p:nvPr/>
          </p:nvSpPr>
          <p:spPr>
            <a:xfrm>
              <a:off x="1818791" y="958956"/>
              <a:ext cx="718458" cy="739483"/>
            </a:xfrm>
            <a:prstGeom prst="rect">
              <a:avLst/>
            </a:prstGeom>
            <a:solidFill>
              <a:srgbClr val="EDF3F8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5C5839C-6B70-7CD1-41B6-42B999CC2602}"/>
                </a:ext>
              </a:extLst>
            </p:cNvPr>
            <p:cNvSpPr/>
            <p:nvPr/>
          </p:nvSpPr>
          <p:spPr>
            <a:xfrm>
              <a:off x="2784255" y="958956"/>
              <a:ext cx="718458" cy="739483"/>
            </a:xfrm>
            <a:prstGeom prst="rect">
              <a:avLst/>
            </a:prstGeom>
            <a:solidFill>
              <a:srgbClr val="F4F4F4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4BFC28B-396F-C0F5-333E-7B77F480B5F2}"/>
              </a:ext>
            </a:extLst>
          </p:cNvPr>
          <p:cNvSpPr txBox="1"/>
          <p:nvPr/>
        </p:nvSpPr>
        <p:spPr>
          <a:xfrm>
            <a:off x="0" y="-969399"/>
            <a:ext cx="105003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디자인 변경이  안되는 부분은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보기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]-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마스터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에 들어가면 편집 가능합니다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좌우에 있는 샘플을 서식복사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컬러  스포이드 해서 사용하면 작업이 편합니다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9885EB2-243B-E592-8858-4564843EAEDA}"/>
              </a:ext>
            </a:extLst>
          </p:cNvPr>
          <p:cNvCxnSpPr>
            <a:cxnSpLocks/>
          </p:cNvCxnSpPr>
          <p:nvPr/>
        </p:nvCxnSpPr>
        <p:spPr>
          <a:xfrm>
            <a:off x="800100" y="3739384"/>
            <a:ext cx="8839846" cy="0"/>
          </a:xfrm>
          <a:prstGeom prst="line">
            <a:avLst/>
          </a:prstGeom>
          <a:ln w="28575">
            <a:solidFill>
              <a:srgbClr val="012D6A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27A1FEB-E937-57EA-48E7-652437A621C3}"/>
              </a:ext>
            </a:extLst>
          </p:cNvPr>
          <p:cNvSpPr txBox="1"/>
          <p:nvPr/>
        </p:nvSpPr>
        <p:spPr>
          <a:xfrm>
            <a:off x="749433" y="1974950"/>
            <a:ext cx="106931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kern="100" spc="-80">
                <a:solidFill>
                  <a:srgbClr val="012D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What is Machine Learning ?  </a:t>
            </a:r>
          </a:p>
          <a:p>
            <a:endParaRPr lang="en-US" altLang="ko-KR" sz="3600" kern="100" spc="-8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Bold" panose="00000800000000000000" pitchFamily="2" charset="-127"/>
            </a:endParaRPr>
          </a:p>
          <a:p>
            <a:r>
              <a:rPr lang="ko-KR" altLang="en-US" sz="3600" kern="100" spc="-80">
                <a:solidFill>
                  <a:srgbClr val="012D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데이터로부터 모델을 만드는 방법</a:t>
            </a:r>
            <a:endParaRPr lang="ko-KR" altLang="en-US" sz="3600" kern="100" spc="-80" dirty="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Bold" panose="000008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1BA6B1-2250-09B4-0663-74983F403B2C}"/>
              </a:ext>
            </a:extLst>
          </p:cNvPr>
          <p:cNvSpPr txBox="1"/>
          <p:nvPr/>
        </p:nvSpPr>
        <p:spPr>
          <a:xfrm>
            <a:off x="800100" y="4475867"/>
            <a:ext cx="5093016" cy="1101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ko-KR" sz="1400" kern="100" spc="-8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600" b="1" kern="100" spc="-8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산업공정</a:t>
            </a:r>
            <a:r>
              <a:rPr lang="en-US" altLang="ko-KR" sz="1600" b="1" kern="100" spc="-8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AI</a:t>
            </a:r>
            <a:r>
              <a:rPr lang="ko-KR" altLang="en-US" sz="1600" b="1" kern="100" spc="-8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융합학과 석사</a:t>
            </a:r>
            <a:r>
              <a:rPr lang="en-US" altLang="ko-KR" sz="1600" b="1" kern="100" spc="-8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 1</a:t>
            </a:r>
            <a:r>
              <a:rPr lang="ko-KR" altLang="en-US" sz="1600" b="1" kern="100" spc="-8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학년 </a:t>
            </a:r>
            <a:endParaRPr lang="en-US" altLang="ko-KR" sz="1600" b="1" kern="100" spc="-8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600" b="1" kern="100" spc="-8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Bold" panose="00000800000000000000" pitchFamily="2" charset="-127"/>
              </a:rPr>
              <a:t>문 장 현 </a:t>
            </a:r>
            <a:endParaRPr lang="en-US" altLang="ko-KR" sz="1600" b="1" kern="100" spc="-8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500" b="1" kern="100" spc="-8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Bold" panose="000008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ED1BC36-7FF9-E001-AEB4-B4FA2379902C}"/>
              </a:ext>
            </a:extLst>
          </p:cNvPr>
          <p:cNvGrpSpPr/>
          <p:nvPr/>
        </p:nvGrpSpPr>
        <p:grpSpPr>
          <a:xfrm>
            <a:off x="12458698" y="-71137"/>
            <a:ext cx="4941149" cy="2463403"/>
            <a:chOff x="6433696" y="1201078"/>
            <a:chExt cx="4941149" cy="246340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14F5FC-625D-7632-3493-CC7590A99990}"/>
                </a:ext>
              </a:extLst>
            </p:cNvPr>
            <p:cNvSpPr txBox="1"/>
            <p:nvPr/>
          </p:nvSpPr>
          <p:spPr>
            <a:xfrm>
              <a:off x="6433696" y="1723698"/>
              <a:ext cx="4941149" cy="377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Light" panose="00000300000000000000" pitchFamily="2" charset="-127"/>
                </a:rPr>
                <a:t>본문</a:t>
              </a:r>
              <a:r>
                <a:rPr lang="en-US" altLang="ko-KR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Light" panose="00000300000000000000" pitchFamily="2" charset="-127"/>
                </a:rPr>
                <a:t>: KoPubWorld</a:t>
              </a:r>
              <a:r>
                <a:rPr lang="ko-KR" altLang="en-US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Light" panose="00000300000000000000" pitchFamily="2" charset="-127"/>
                </a:rPr>
                <a:t>바탕체</a:t>
              </a:r>
              <a:r>
                <a:rPr lang="en-US" altLang="ko-KR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Light" panose="00000300000000000000" pitchFamily="2" charset="-127"/>
                </a:rPr>
                <a:t> Light 16pt</a:t>
              </a:r>
              <a:endParaRPr lang="ko-KR" altLang="en-US" kern="100" spc="-8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Light" panose="000003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B7BC80-EC9C-EF7C-D6DC-1822084E8207}"/>
                </a:ext>
              </a:extLst>
            </p:cNvPr>
            <p:cNvSpPr txBox="1"/>
            <p:nvPr/>
          </p:nvSpPr>
          <p:spPr>
            <a:xfrm>
              <a:off x="6433696" y="3216153"/>
              <a:ext cx="4941149" cy="448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인용구</a:t>
              </a:r>
              <a:r>
                <a:rPr lang="en-US" altLang="ko-KR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: KoPubWorld</a:t>
              </a:r>
              <a:r>
                <a:rPr lang="ko-KR" altLang="en-US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바탕체</a:t>
              </a:r>
              <a:r>
                <a:rPr lang="en-US" altLang="ko-KR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 Lite 20pt</a:t>
              </a:r>
              <a:endParaRPr lang="ko-KR" altLang="en-US" sz="2400" kern="100" spc="-8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Medium" panose="000006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3BA3AB-D5D9-992E-78A2-0C97F0AEF27F}"/>
                </a:ext>
              </a:extLst>
            </p:cNvPr>
            <p:cNvSpPr txBox="1"/>
            <p:nvPr/>
          </p:nvSpPr>
          <p:spPr>
            <a:xfrm>
              <a:off x="6433696" y="2208615"/>
              <a:ext cx="4941149" cy="377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본문</a:t>
              </a:r>
              <a:r>
                <a:rPr lang="en-US" altLang="ko-KR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: KoPubWorld</a:t>
              </a:r>
              <a:r>
                <a:rPr lang="ko-KR" altLang="en-US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바탕체</a:t>
              </a:r>
              <a:r>
                <a:rPr lang="en-US" altLang="ko-KR" sz="16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 Medium 16pt</a:t>
              </a:r>
              <a:endParaRPr lang="ko-KR" altLang="en-US" sz="2000" kern="100" spc="-8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Medium" panose="00000600000000000000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AB2BB1-C626-A88F-8028-D243B6FE6625}"/>
                </a:ext>
              </a:extLst>
            </p:cNvPr>
            <p:cNvSpPr txBox="1"/>
            <p:nvPr/>
          </p:nvSpPr>
          <p:spPr>
            <a:xfrm>
              <a:off x="6433696" y="2693532"/>
              <a:ext cx="4941149" cy="41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본문</a:t>
              </a:r>
              <a:r>
                <a:rPr lang="en-US" altLang="ko-KR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: KoPubWorld</a:t>
              </a:r>
              <a:r>
                <a:rPr lang="ko-KR" altLang="en-US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바탕체</a:t>
              </a:r>
              <a:r>
                <a:rPr lang="en-US" altLang="ko-KR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바탕체 Medium" panose="00000600000000000000" pitchFamily="2" charset="-127"/>
                </a:rPr>
                <a:t> Medium 18pt</a:t>
              </a:r>
              <a:endParaRPr lang="ko-KR" altLang="en-US" sz="2400" kern="100" spc="-8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바탕체 Medium" panose="00000600000000000000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7AD5B8-4F98-81A0-610B-E34241ACC4D1}"/>
                </a:ext>
              </a:extLst>
            </p:cNvPr>
            <p:cNvSpPr txBox="1"/>
            <p:nvPr/>
          </p:nvSpPr>
          <p:spPr>
            <a:xfrm>
              <a:off x="6433696" y="1201078"/>
              <a:ext cx="4941149" cy="448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Bold" panose="00000800000000000000" pitchFamily="2" charset="-127"/>
                </a:rPr>
                <a:t>제목</a:t>
              </a:r>
              <a:r>
                <a:rPr lang="en-US" altLang="ko-KR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Bold" panose="00000800000000000000" pitchFamily="2" charset="-127"/>
                </a:rPr>
                <a:t>: KoPubWorld</a:t>
              </a:r>
              <a:r>
                <a:rPr lang="ko-KR" altLang="en-US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Bold" panose="00000800000000000000" pitchFamily="2" charset="-127"/>
                </a:rPr>
                <a:t>돋움체</a:t>
              </a:r>
              <a:r>
                <a:rPr lang="en-US" altLang="ko-KR" sz="2000" kern="100" spc="-8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Bold" panose="00000800000000000000" pitchFamily="2" charset="-127"/>
                </a:rPr>
                <a:t> Bold 20pt</a:t>
              </a:r>
              <a:endParaRPr lang="ko-KR" altLang="en-US" sz="2800" kern="100" spc="-8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6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965D-27F4-0506-2102-BF00A59A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2A06B6-29E4-EFA1-8B7D-313BFAF8C9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목표</a:t>
            </a:r>
            <a:endParaRPr lang="en-US" altLang="ko-KR" sz="2400" kern="100" spc="-80" dirty="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Medium" panose="00000600000000000000" pitchFamily="2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B3FF366-A276-617D-3ADA-EB78AAC73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088" y="200464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BC144DF-E21B-333B-5B86-C5052D920DED}"/>
              </a:ext>
            </a:extLst>
          </p:cNvPr>
          <p:cNvSpPr txBox="1">
            <a:spLocks/>
          </p:cNvSpPr>
          <p:nvPr/>
        </p:nvSpPr>
        <p:spPr>
          <a:xfrm>
            <a:off x="688877" y="1050010"/>
            <a:ext cx="10814245" cy="448719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3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데이터로부터 수학적 모델을 학습하는 과정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이해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3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문제 유형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정리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회귀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 축소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3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scikit-learn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예제 실습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fontAlgn="base">
              <a:lnSpc>
                <a:spcPct val="3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https://github.com/moonjanghyun/numpy</a:t>
            </a:r>
          </a:p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933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76B8-1B78-AE10-2682-086CE677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53DE97-6566-C202-F44D-AF1FB5257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머신러닝이란</a:t>
            </a:r>
            <a:r>
              <a:rPr lang="en-US" altLang="ko-KR" sz="2400">
                <a:cs typeface="KoPubWorld바탕체 Medium" panose="00000600000000000000" pitchFamily="2" charset="-127"/>
              </a:rPr>
              <a:t>?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E6E96B9-23FB-76E0-DB60-34768FE6B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088" y="200464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B0B6FF0D-B2B1-847B-E2A8-69B7A8353613}"/>
              </a:ext>
            </a:extLst>
          </p:cNvPr>
          <p:cNvSpPr txBox="1">
            <a:spLocks/>
          </p:cNvSpPr>
          <p:nvPr/>
        </p:nvSpPr>
        <p:spPr>
          <a:xfrm>
            <a:off x="519036" y="1727199"/>
            <a:ext cx="10814245" cy="387662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데이터를 이해하고 예측하기 위한 수학적 모델을 학습하는 과정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과학에서는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“데이터 → 모델 → 새로운 데이터 예측”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핵심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모델에는 조정 가능한 파라미터가 있고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값을 맞추는 과정이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학습된 모델은 새 데이터에 대해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이해에 사용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029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CB45-839F-D297-8498-F2285130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C4704D-DB1C-F907-3706-002044FBDC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머신러닝 문제 큰 분류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70877F-530C-E0E4-C7A2-29CFBE1A3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088" y="200464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7E0A3D76-1ABD-042E-D967-78B6493C693A}"/>
              </a:ext>
            </a:extLst>
          </p:cNvPr>
          <p:cNvSpPr txBox="1">
            <a:spLocks/>
          </p:cNvSpPr>
          <p:nvPr/>
        </p:nvSpPr>
        <p:spPr>
          <a:xfrm>
            <a:off x="519036" y="1254171"/>
            <a:ext cx="10814245" cy="434965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지도 학습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(Supervised) 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특징과 정답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모두 있음 →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 맞히기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분류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(Classification) :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정해진 카테고리 예측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(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라벨이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종류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”)</a:t>
            </a:r>
            <a:endParaRPr lang="en-US" altLang="ko-KR" sz="20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회귀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(Regression) :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연속값 예측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(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라벨이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”)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비지도 학습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(Unsupervised) 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없이 구조 찾기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(Clustering) :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레이블이 지정되지 않은 데이터에 대한 레이블 추론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 축소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(Dimension Reduction) :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레이블이 지정되지 않은 데이터의 구조 추론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040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129B-080F-35E6-6949-445A71EE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101506-257A-4F5B-DAA8-D7B00B0A05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지도 학습 </a:t>
            </a:r>
            <a:r>
              <a:rPr lang="en-US" altLang="ko-KR" sz="2400">
                <a:cs typeface="KoPubWorld바탕체 Medium" panose="00000600000000000000" pitchFamily="2" charset="-127"/>
              </a:rPr>
              <a:t>- </a:t>
            </a:r>
            <a:r>
              <a:rPr lang="ko-KR" altLang="en-US" sz="2400">
                <a:cs typeface="KoPubWorld바탕체 Medium" panose="00000600000000000000" pitchFamily="2" charset="-127"/>
              </a:rPr>
              <a:t>분류 </a:t>
            </a:r>
            <a:r>
              <a:rPr lang="en-US" altLang="ko-KR" sz="2400">
                <a:cs typeface="KoPubWorld바탕체 Medium" panose="00000600000000000000" pitchFamily="2" charset="-127"/>
              </a:rPr>
              <a:t>(Classification)</a:t>
            </a:r>
            <a:endParaRPr lang="en-US" altLang="ko-KR" sz="2400" kern="100" spc="-80" dirty="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Medium" panose="00000600000000000000" pitchFamily="2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FDDAE86-7668-A93B-3F3A-FFAEB51EE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088" y="200464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99032D83-E8AE-6BF0-E67D-595C6A705093}"/>
              </a:ext>
            </a:extLst>
          </p:cNvPr>
          <p:cNvSpPr txBox="1">
            <a:spLocks/>
          </p:cNvSpPr>
          <p:nvPr/>
        </p:nvSpPr>
        <p:spPr>
          <a:xfrm>
            <a:off x="519036" y="2155761"/>
            <a:ext cx="10814245" cy="145534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18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0FAF657-588C-2705-3656-5986B67A868C}"/>
              </a:ext>
            </a:extLst>
          </p:cNvPr>
          <p:cNvSpPr txBox="1">
            <a:spLocks/>
          </p:cNvSpPr>
          <p:nvPr/>
        </p:nvSpPr>
        <p:spPr>
          <a:xfrm>
            <a:off x="534534" y="287018"/>
            <a:ext cx="10814245" cy="434965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 평면에 파란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빨간 점이 섞여 있음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직선을 하나 그어서 양쪽 클래스를 나누는 모델을 학습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혈액형 분류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질병 유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→ 분류에 해당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데이터로 경계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직선의 위치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기울기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배우고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점이 들어오면 라벨 부여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예측 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(prediction)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1D13CE-66F1-D352-D1FD-E997EC640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29"/>
          <a:stretch>
            <a:fillRect/>
          </a:stretch>
        </p:blipFill>
        <p:spPr>
          <a:xfrm>
            <a:off x="395305" y="3718119"/>
            <a:ext cx="7658308" cy="2743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D5248EF-717E-B203-B44E-4D1FA66D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542" y="740061"/>
            <a:ext cx="4224458" cy="406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6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76FC-A734-8FFD-F820-CB2F9267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17217-9A00-7C3A-D1C9-8A7F476CC3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지도 학습 </a:t>
            </a:r>
            <a:r>
              <a:rPr lang="en-US" altLang="ko-KR" sz="2400">
                <a:cs typeface="KoPubWorld바탕체 Medium" panose="00000600000000000000" pitchFamily="2" charset="-127"/>
              </a:rPr>
              <a:t>- </a:t>
            </a:r>
            <a:r>
              <a:rPr lang="ko-KR" altLang="en-US" sz="2400">
                <a:cs typeface="KoPubWorld바탕체 Medium" panose="00000600000000000000" pitchFamily="2" charset="-127"/>
              </a:rPr>
              <a:t>회귀 </a:t>
            </a:r>
            <a:r>
              <a:rPr lang="en-US" altLang="ko-KR" sz="2400">
                <a:cs typeface="KoPubWorld바탕체 Medium" panose="00000600000000000000" pitchFamily="2" charset="-127"/>
              </a:rPr>
              <a:t>(Regression)</a:t>
            </a:r>
            <a:r>
              <a:rPr lang="ko-KR" altLang="en-US" sz="2400">
                <a:cs typeface="KoPubWorld바탕체 Medium" panose="00000600000000000000" pitchFamily="2" charset="-127"/>
              </a:rPr>
              <a:t> </a:t>
            </a:r>
            <a:endParaRPr lang="en-US" altLang="ko-KR" sz="2400" kern="100" spc="-80" dirty="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FA4B8AEF-4CBE-9462-EDC6-7B4D4683FAB1}"/>
              </a:ext>
            </a:extLst>
          </p:cNvPr>
          <p:cNvSpPr txBox="1">
            <a:spLocks/>
          </p:cNvSpPr>
          <p:nvPr/>
        </p:nvSpPr>
        <p:spPr>
          <a:xfrm>
            <a:off x="519036" y="2155761"/>
            <a:ext cx="10814245" cy="145534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18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B05D335-E3C5-1A99-C713-4F06CBF3B914}"/>
              </a:ext>
            </a:extLst>
          </p:cNvPr>
          <p:cNvSpPr txBox="1">
            <a:spLocks/>
          </p:cNvSpPr>
          <p:nvPr/>
        </p:nvSpPr>
        <p:spPr>
          <a:xfrm>
            <a:off x="519035" y="974766"/>
            <a:ext cx="10814245" cy="490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연속적인 값 예측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데이터는 각각 연속적인 집합으로 구성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길이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                                                       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주어진 입력 변수와 출력 변수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변수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사이의 관계를 모델링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 회귀 모델을 학습시켜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입력에 대한 예측 값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추론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주택 가격 예측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 가격 예측 등</a:t>
            </a: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라벨 있는 데이터로 연속적인 함수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곡선을 배우고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점이 오면 그 함수 위의 값을 읽어서 숫자로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6609F8-17B8-20CC-235B-DAC8B22FC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54" y="101598"/>
            <a:ext cx="3792346" cy="30720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B24ED6-F29D-EADC-3126-826F5E8D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654" y="3155368"/>
            <a:ext cx="3792346" cy="309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8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DED3-0648-C981-C81D-B496AAB8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C6DC95-2E88-13FF-B156-64B3700DDF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비지도 학습 </a:t>
            </a:r>
            <a:r>
              <a:rPr lang="en-US" altLang="ko-KR" sz="2400">
                <a:cs typeface="KoPubWorld바탕체 Medium" panose="00000600000000000000" pitchFamily="2" charset="-127"/>
              </a:rPr>
              <a:t>-</a:t>
            </a:r>
            <a:r>
              <a:rPr lang="ko-KR" altLang="en-US" sz="2400">
                <a:cs typeface="KoPubWorld바탕체 Medium" panose="00000600000000000000" pitchFamily="2" charset="-127"/>
              </a:rPr>
              <a:t> 군집 </a:t>
            </a:r>
            <a:r>
              <a:rPr lang="en-US" altLang="ko-KR" sz="2400">
                <a:cs typeface="KoPubWorld바탕체 Medium" panose="00000600000000000000" pitchFamily="2" charset="-127"/>
              </a:rPr>
              <a:t>(Clustering)</a:t>
            </a:r>
            <a:endParaRPr lang="en-US" altLang="ko-KR" sz="2400" kern="100" spc="-80" dirty="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30D24B0-AD64-6AB8-E009-10B81549B680}"/>
              </a:ext>
            </a:extLst>
          </p:cNvPr>
          <p:cNvSpPr txBox="1">
            <a:spLocks/>
          </p:cNvSpPr>
          <p:nvPr/>
        </p:nvSpPr>
        <p:spPr>
          <a:xfrm>
            <a:off x="519036" y="2155761"/>
            <a:ext cx="10814245" cy="145534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18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06BAAC8-5768-A0F9-F7A4-A21E94B76959}"/>
              </a:ext>
            </a:extLst>
          </p:cNvPr>
          <p:cNvSpPr txBox="1">
            <a:spLocks/>
          </p:cNvSpPr>
          <p:nvPr/>
        </p:nvSpPr>
        <p:spPr>
          <a:xfrm>
            <a:off x="519035" y="3230460"/>
            <a:ext cx="10814245" cy="41863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라벨링이 되어 있지 않은 데이터들 내에서 비슷한 특징이나 패턴을 가진 데이터들끼리     군집화한 후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데이터가 어떤 군집에 속하는지 추론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모델은 데이터의 고유한 구조를 사용하여 어떤 점이 서로 관연있는지 파악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 알고리즘을 사용하여 클러스터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탐색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데이터를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묶음으로 나누되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묶음의 중심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(centroid)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과의 제곱거리 합이 가장 작도록” 찾는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                                                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76D2776-F831-F15B-386F-3D6CA838B414}"/>
              </a:ext>
            </a:extLst>
          </p:cNvPr>
          <p:cNvGrpSpPr/>
          <p:nvPr/>
        </p:nvGrpSpPr>
        <p:grpSpPr>
          <a:xfrm>
            <a:off x="1491775" y="638177"/>
            <a:ext cx="8868764" cy="2972928"/>
            <a:chOff x="1405467" y="3487970"/>
            <a:chExt cx="8868764" cy="303516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813D922-E3F6-EF7E-5E4E-BE5FB4D4DA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6" t="4702" r="7718" b="5854"/>
            <a:stretch>
              <a:fillRect/>
            </a:stretch>
          </p:blipFill>
          <p:spPr bwMode="auto">
            <a:xfrm>
              <a:off x="1405467" y="3487970"/>
              <a:ext cx="3849672" cy="3017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1E2E8F7-1682-29C2-F1F1-B9F14CDDF4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1" t="4767" r="7204" b="5789"/>
            <a:stretch>
              <a:fillRect/>
            </a:stretch>
          </p:blipFill>
          <p:spPr bwMode="auto">
            <a:xfrm>
              <a:off x="6424559" y="3505689"/>
              <a:ext cx="3849672" cy="3017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화살표: 오른쪽 1">
              <a:extLst>
                <a:ext uri="{FF2B5EF4-FFF2-40B4-BE49-F238E27FC236}">
                  <a16:creationId xmlns:a16="http://schemas.microsoft.com/office/drawing/2014/main" id="{4C462143-D5B9-0300-A4BA-7BECC1D3C5DC}"/>
                </a:ext>
              </a:extLst>
            </p:cNvPr>
            <p:cNvSpPr/>
            <p:nvPr/>
          </p:nvSpPr>
          <p:spPr>
            <a:xfrm>
              <a:off x="5638290" y="4878940"/>
              <a:ext cx="575733" cy="342286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23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5101-A918-9D8B-B5EE-6B147817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3D94AC-6E7A-72EF-FC14-4A3DC7FF95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비지도 학습 </a:t>
            </a:r>
            <a:r>
              <a:rPr lang="en-US" altLang="ko-KR" sz="2400">
                <a:cs typeface="KoPubWorld바탕체 Medium" panose="00000600000000000000" pitchFamily="2" charset="-127"/>
              </a:rPr>
              <a:t>- </a:t>
            </a:r>
            <a:r>
              <a:rPr lang="ko-KR" altLang="en-US" sz="2400">
                <a:cs typeface="KoPubWorld바탕체 Medium" panose="00000600000000000000" pitchFamily="2" charset="-127"/>
              </a:rPr>
              <a:t>차원 축소</a:t>
            </a:r>
            <a:endParaRPr lang="en-US" altLang="ko-KR" sz="2400" kern="100" spc="-80" dirty="0">
              <a:solidFill>
                <a:srgbClr val="012D6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0C5D7B-2754-DC15-779F-C35495C0F504}"/>
              </a:ext>
            </a:extLst>
          </p:cNvPr>
          <p:cNvSpPr txBox="1">
            <a:spLocks/>
          </p:cNvSpPr>
          <p:nvPr/>
        </p:nvSpPr>
        <p:spPr>
          <a:xfrm>
            <a:off x="519036" y="2155761"/>
            <a:ext cx="10814245" cy="145534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18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6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ECE8E0E-4526-9976-7D39-0B4F72D0E504}"/>
              </a:ext>
            </a:extLst>
          </p:cNvPr>
          <p:cNvSpPr txBox="1">
            <a:spLocks/>
          </p:cNvSpPr>
          <p:nvPr/>
        </p:nvSpPr>
        <p:spPr>
          <a:xfrm>
            <a:off x="519034" y="567336"/>
            <a:ext cx="10814245" cy="434965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차원이란 데이터를 구성하고 있는 속성의 개수를 의미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높은 차원의 데이터를 낮은 차원으로 줄여 특징을 살펴보는 기법</a:t>
            </a:r>
            <a:r>
              <a:rPr lang="en-US" altLang="ko-KR" sz="20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성분 분석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(PCA),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특이값 분해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(SVD)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알고리즘을 사용하여 원본 데이터에 있는 속성의    무결성을 손상시키지 않고 데이터 입력 수를 줄임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고차원 데이터 시각화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이상치 탐지에 활용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0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marR="0" fontAlgn="base" latinLnBrk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789349-EA00-BE3E-96EC-D9190F456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2297" y="3611105"/>
            <a:ext cx="9887717" cy="27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DBD72-3602-B4F2-8421-F8982E36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1E271C-7113-0ADD-BAB1-59F87B3C9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Scikit - Learn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7A690968-612A-A176-4355-3180FFC9AC08}"/>
              </a:ext>
            </a:extLst>
          </p:cNvPr>
          <p:cNvSpPr txBox="1">
            <a:spLocks/>
          </p:cNvSpPr>
          <p:nvPr/>
        </p:nvSpPr>
        <p:spPr>
          <a:xfrm>
            <a:off x="519036" y="1871631"/>
            <a:ext cx="10814245" cy="434965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파이썬에서 가장 널리 쓰는 머신러닝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일관된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: fit(), predict(), transform()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패턴만 알면 대부분 모델 적용 가능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자료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값이 존재 → 교육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연구에 사용하기 적합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형태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단위는 표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“table”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(2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 행렬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2050" name="Picture 2" descr="scikit-learn - Wikipedia">
            <a:extLst>
              <a:ext uri="{FF2B5EF4-FFF2-40B4-BE49-F238E27FC236}">
                <a16:creationId xmlns:a16="http://schemas.microsoft.com/office/drawing/2014/main" id="{C4A94CE1-0C6B-CCCF-7D62-BBE574C63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980" y="740061"/>
            <a:ext cx="3985021" cy="215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32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CB80-3C54-82F5-E222-4339A19B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0F1F72-9F6E-9AEE-5EDA-2A10FA2DC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Scikit - Learn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1165B07A-E1E9-FAFD-6E28-F9AE43EA37E1}"/>
              </a:ext>
            </a:extLst>
          </p:cNvPr>
          <p:cNvSpPr txBox="1">
            <a:spLocks/>
          </p:cNvSpPr>
          <p:nvPr/>
        </p:nvSpPr>
        <p:spPr>
          <a:xfrm>
            <a:off x="519036" y="1144337"/>
            <a:ext cx="10814245" cy="487375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scikit-learn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거의 모든 모델은 아래 흐름을 사용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 선택 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from sklearn.linear_model import LinearRegression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1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2. 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인스턴스 생성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하이퍼파라미터 설정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: model = LinearRegression()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1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3. 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model.fit (X_train, y_train)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1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</a:t>
            </a:r>
            <a:r>
              <a:rPr lang="en-US" altLang="ko-KR" sz="18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model.predict (X_test)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→ 이 패턴만 알면 분류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회귀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차원축소 등 다양한 모델 사용 가능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018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C93B5-48E5-F263-10DB-53F47D7C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87BDB0-4D48-79D4-2D9B-DEB967BAB3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cs typeface="KoPubWorld바탕체 Medium" panose="00000600000000000000" pitchFamily="2" charset="-127"/>
              </a:rPr>
              <a:t>모델 검증의 필요성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7F751114-D711-FDAF-0336-5995A5AFBA38}"/>
              </a:ext>
            </a:extLst>
          </p:cNvPr>
          <p:cNvSpPr txBox="1">
            <a:spLocks/>
          </p:cNvSpPr>
          <p:nvPr/>
        </p:nvSpPr>
        <p:spPr>
          <a:xfrm>
            <a:off x="519036" y="1347537"/>
            <a:ext cx="10814245" cy="487375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과적합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(overfitting)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모델이 훈련 데이터에는 좋은 성능을 보이지만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데이터에는 좋지 않은 성능을 보이는 현상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학습으로 자동으로 정해지는 값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하이퍼파라미터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학습으로 배우는 값이 아니라 사용자가 사전에 정하는 값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값을 잘못 고르면 성능이 크게 달라짐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10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→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(validation)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필수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049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BA4D7-0117-C973-2930-DFA90586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7C67C0-3719-4756-B9F3-6D4A29EADA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모델 검증 방법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270254D-8751-2FE0-B43B-A9C2A35E231C}"/>
              </a:ext>
            </a:extLst>
          </p:cNvPr>
          <p:cNvSpPr txBox="1">
            <a:spLocks/>
          </p:cNvSpPr>
          <p:nvPr/>
        </p:nvSpPr>
        <p:spPr>
          <a:xfrm>
            <a:off x="519036" y="1588167"/>
            <a:ext cx="10814245" cy="392478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모델과 하이퍼파라미터를 선택한 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이를 학습 데이터에 적용하고 예측 값을 실제 값과 비교하여 추정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홀드아웃 세트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Train 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/ Test 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/ Val 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데이터 분할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Scikit-Learn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유틸리티를 사용 →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train_test_split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적은 경우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성능 편차 증가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발생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 과정에서 일부 데이터 손실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K-Fold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데이터를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등분해서 번갈아가며 검증 → 평균 산출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4868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865856-F216-CF5D-CE6A-EAFB91145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077" y="45518"/>
            <a:ext cx="6797843" cy="5657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8705FA-D0FA-6FB5-D8AE-AD2C0A9713F7}"/>
              </a:ext>
            </a:extLst>
          </p:cNvPr>
          <p:cNvSpPr txBox="1"/>
          <p:nvPr/>
        </p:nvSpPr>
        <p:spPr>
          <a:xfrm>
            <a:off x="3485147" y="5702785"/>
            <a:ext cx="5221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/>
              <a:t>cross_val_score(estimator, X, y, cv=5)</a:t>
            </a:r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016C0-5A7F-FFBA-246D-838DCB7EE201}"/>
              </a:ext>
            </a:extLst>
          </p:cNvPr>
          <p:cNvSpPr txBox="1"/>
          <p:nvPr/>
        </p:nvSpPr>
        <p:spPr>
          <a:xfrm>
            <a:off x="471013" y="499674"/>
            <a:ext cx="1899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5-Fold CV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373662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CD61-07EE-A5B5-61A1-C2675713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7ABF10-DBD6-8E67-93EC-B74BD1F9A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모델 검증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CBC9372A-96C1-2BBD-80E1-49708CB55D65}"/>
              </a:ext>
            </a:extLst>
          </p:cNvPr>
          <p:cNvSpPr txBox="1">
            <a:spLocks/>
          </p:cNvSpPr>
          <p:nvPr/>
        </p:nvSpPr>
        <p:spPr>
          <a:xfrm>
            <a:off x="519036" y="3015536"/>
            <a:ext cx="10814245" cy="332568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과소적합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(underfitting)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모델이 너무 단순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train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낮음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과적합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(overfitting)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모델이 너무 복잡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train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높음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val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낮음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우리가 하이퍼파라미터로 조절하는 건 결국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복잡도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이걸 잘 맞추는 과정이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튜닝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이걸 시각화한 게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curve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(x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 복잡도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y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 성능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339E3E-9E90-92F8-D74E-9C0F4924B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0"/>
            <a:ext cx="4775200" cy="289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95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379-D807-E65A-C969-D02BA53A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F854FF-EC38-7263-92C3-6190BF57F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모델 검증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D5EFF23-9D1F-919C-BD0C-06CA32AA267A}"/>
              </a:ext>
            </a:extLst>
          </p:cNvPr>
          <p:cNvSpPr txBox="1">
            <a:spLocks/>
          </p:cNvSpPr>
          <p:nvPr/>
        </p:nvSpPr>
        <p:spPr>
          <a:xfrm>
            <a:off x="519036" y="978567"/>
            <a:ext cx="10814245" cy="230701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Grid Search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최적 하이퍼파라미터 탐색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우리가 조합을 주면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조합을 교차검증을 돌려서 가장 좋은 걸 골라줌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0CF6D8-420D-246B-E7F7-7EF96190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36" y="4063068"/>
            <a:ext cx="6401830" cy="16004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8855AA-2E5D-B4F0-1ACB-3AF034F9B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782" y="2854871"/>
            <a:ext cx="514421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07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EDB41-E886-1E2D-620C-1C17D21F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738769-7013-7FDB-501D-AD006FBD00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en-US" altLang="ko-KR" sz="2400"/>
              <a:t>Feature Engineering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CB815E2D-4C66-3EAF-1707-E07E0CD79E24}"/>
              </a:ext>
            </a:extLst>
          </p:cNvPr>
          <p:cNvSpPr txBox="1">
            <a:spLocks/>
          </p:cNvSpPr>
          <p:nvPr/>
        </p:nvSpPr>
        <p:spPr>
          <a:xfrm>
            <a:off x="519036" y="1632283"/>
            <a:ext cx="10814245" cy="359343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데이터는 범주형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문자열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 섞여 있어서 그대로는 사용 불가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Feature Engineering 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현실 데이터 → 모델이 이해하는 숫자 벡터로 바꾸는 과정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scikit-learn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에서는 이걸 “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vectorization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이라고도 부름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609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E8B0-7F42-C899-AE83-E3A476A3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6D867A-C3F8-0EAE-570D-012033748B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en-US" altLang="ko-KR" sz="2400"/>
              <a:t>Feature Engineering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FB72EDD-527B-78C6-66E9-C625F9D6D519}"/>
              </a:ext>
            </a:extLst>
          </p:cNvPr>
          <p:cNvSpPr txBox="1">
            <a:spLocks/>
          </p:cNvSpPr>
          <p:nvPr/>
        </p:nvSpPr>
        <p:spPr>
          <a:xfrm>
            <a:off x="519036" y="1632283"/>
            <a:ext cx="10814245" cy="359343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범주형 데이터 → 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핫 인코딩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범주마다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컬럼을 만든다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(one-hot)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→ 단어 빈도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TF-IDF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표현으로 변환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→ 픽셀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국소 특징으로 숫자화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3014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81FF5-DE47-0742-1363-84D521F7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6123BC-B9C0-4C5D-1405-4E7297AEE7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035" y="115638"/>
            <a:ext cx="6651785" cy="624423"/>
          </a:xfrm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심층분석</a:t>
            </a:r>
            <a:r>
              <a:rPr lang="en-US" altLang="ko-KR" sz="2400">
                <a:cs typeface="KoPubWorld바탕체 Medium" panose="00000600000000000000" pitchFamily="2" charset="-127"/>
              </a:rPr>
              <a:t>: </a:t>
            </a:r>
            <a:r>
              <a:rPr lang="ko-KR" altLang="en-US" sz="2400">
                <a:cs typeface="KoPubWorld바탕체 Medium" panose="00000600000000000000" pitchFamily="2" charset="-127"/>
              </a:rPr>
              <a:t>나이브 베이즈 분류 </a:t>
            </a:r>
            <a:r>
              <a:rPr lang="en-US" altLang="ko-KR" sz="2400">
                <a:cs typeface="KoPubWorld바탕체 Medium" panose="00000600000000000000" pitchFamily="2" charset="-127"/>
              </a:rPr>
              <a:t>(Naive Bayes)</a:t>
            </a:r>
            <a:r>
              <a:rPr lang="ko-KR" altLang="en-US" sz="2400">
                <a:cs typeface="KoPubWorld바탕체 Medium" panose="00000600000000000000" pitchFamily="2" charset="-127"/>
              </a:rPr>
              <a:t> </a:t>
            </a:r>
            <a:endParaRPr lang="en-US" altLang="ko-KR" sz="2400">
              <a:cs typeface="KoPubWorld바탕체 Medium" panose="00000600000000000000" pitchFamily="2" charset="-127"/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EEDD2ABA-6698-BD55-679E-957C091C43C1}"/>
              </a:ext>
            </a:extLst>
          </p:cNvPr>
          <p:cNvSpPr txBox="1">
            <a:spLocks/>
          </p:cNvSpPr>
          <p:nvPr/>
        </p:nvSpPr>
        <p:spPr>
          <a:xfrm>
            <a:off x="519035" y="1726412"/>
            <a:ext cx="10814245" cy="501595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베이즈 정리 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 간 조건부 독립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(naive)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가정으로 사후확률 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P (y ∣ x)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추정 → 가장 확률 높은 클래스를 예측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튜닝 및 학습 적음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빠른 베이스라인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고차원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희소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강함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빠른 기준선 필요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대규모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고차원 텍스트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가정이 맞는 경우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변형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GaussianNB(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MultinomialNB(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빈도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/TF-IDF),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BernoulliNB(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이진 특징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ComplementNB(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불균형 텍스트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6838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4052-2DAC-07C9-F8A1-A81B215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538288-386E-0FA9-D36C-D793A0D20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036" y="115638"/>
            <a:ext cx="6122396" cy="624423"/>
          </a:xfrm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심층분석</a:t>
            </a:r>
            <a:r>
              <a:rPr lang="en-US" altLang="ko-KR" sz="2400">
                <a:cs typeface="KoPubWorld바탕체 Medium" panose="00000600000000000000" pitchFamily="2" charset="-127"/>
              </a:rPr>
              <a:t>: </a:t>
            </a:r>
            <a:r>
              <a:rPr lang="ko-KR" altLang="en-US" sz="2400">
                <a:cs typeface="KoPubWorld바탕체 Medium" panose="00000600000000000000" pitchFamily="2" charset="-127"/>
              </a:rPr>
              <a:t>선형 회귀 </a:t>
            </a:r>
            <a:r>
              <a:rPr lang="en-US" altLang="ko-KR" sz="2400">
                <a:cs typeface="KoPubWorld바탕체 Medium" panose="00000600000000000000" pitchFamily="2" charset="-127"/>
              </a:rPr>
              <a:t>(Linear Regression)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2AE83840-EB01-81D1-DCC2-24E1E1E53C46}"/>
              </a:ext>
            </a:extLst>
          </p:cNvPr>
          <p:cNvSpPr txBox="1">
            <a:spLocks/>
          </p:cNvSpPr>
          <p:nvPr/>
        </p:nvSpPr>
        <p:spPr>
          <a:xfrm>
            <a:off x="519036" y="2980267"/>
            <a:ext cx="11544627" cy="306237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개념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𝑦를 특징 𝑋의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 결합 𝑦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𝑋𝑤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𝑏으로 예측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가장 기본 모델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​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원리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(OLS):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잔차 제곱합 ∥𝑦−𝑦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^∥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최소화하는 𝑤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추정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표현력 확장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다항특징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기저함수로 입력을 변환하면 비선형도 선형모델로 표현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E4B419-E31A-85EC-A086-D2DD673B1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345" y="0"/>
            <a:ext cx="530765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56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75C3-AC13-5A85-4202-F7B8D54C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8B8C33-0732-5CF4-CFEA-FE57732389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035" y="115638"/>
            <a:ext cx="8032297" cy="624423"/>
          </a:xfrm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심층분석</a:t>
            </a:r>
            <a:r>
              <a:rPr lang="en-US" altLang="ko-KR" sz="2400">
                <a:cs typeface="KoPubWorld바탕체 Medium" panose="00000600000000000000" pitchFamily="2" charset="-127"/>
              </a:rPr>
              <a:t>: Support Vector Machines (SVM)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DC31B787-9A4B-7A92-923E-29052B34FB86}"/>
              </a:ext>
            </a:extLst>
          </p:cNvPr>
          <p:cNvSpPr txBox="1">
            <a:spLocks/>
          </p:cNvSpPr>
          <p:nvPr/>
        </p:nvSpPr>
        <p:spPr>
          <a:xfrm>
            <a:off x="519036" y="931333"/>
            <a:ext cx="11544627" cy="511131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개념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마진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결정경계와 가장 가까운 점들 사이 거리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최대화하는 분류</a:t>
            </a: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경계를 규정하는 서포트 벡터만으로 결정함 → 일반화에 유리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​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커널 트릭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선형으로 분리되지 않는 데이터도 커널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(RBF/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다항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 등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고차원 특징공간에서 선형 분리되도록 변환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하이퍼파라미터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 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허용 정도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작을수록 마진 크게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일반화↑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Y (RBF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폭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클수록 경계 복잡↑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특성 수가 많고 경계가 비선형이고 명확한 마진이 있을 때 강력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7438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D17F-68FC-0608-81E8-D6367E46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4E2545-848A-B528-8F9E-2F9B6E441F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035" y="115638"/>
            <a:ext cx="8032297" cy="624423"/>
          </a:xfrm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심층분석</a:t>
            </a:r>
            <a:r>
              <a:rPr lang="en-US" altLang="ko-KR" sz="2400">
                <a:cs typeface="KoPubWorld바탕체 Medium" panose="00000600000000000000" pitchFamily="2" charset="-127"/>
              </a:rPr>
              <a:t>: </a:t>
            </a:r>
            <a:r>
              <a:rPr lang="ko-KR" altLang="en-US" sz="2400">
                <a:cs typeface="KoPubWorld바탕체 Medium" panose="00000600000000000000" pitchFamily="2" charset="-127"/>
              </a:rPr>
              <a:t>의사결정 트리 </a:t>
            </a:r>
            <a:r>
              <a:rPr lang="en-US" altLang="ko-KR" sz="2400">
                <a:cs typeface="KoPubWorld바탕체 Medium" panose="00000600000000000000" pitchFamily="2" charset="-127"/>
              </a:rPr>
              <a:t>(Decision Tree)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9C695249-01B3-50CC-737A-D6D7A3E8C97E}"/>
              </a:ext>
            </a:extLst>
          </p:cNvPr>
          <p:cNvSpPr txBox="1">
            <a:spLocks/>
          </p:cNvSpPr>
          <p:nvPr/>
        </p:nvSpPr>
        <p:spPr>
          <a:xfrm>
            <a:off x="519035" y="3064932"/>
            <a:ext cx="11544627" cy="367742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개념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트리는 입력 공간을 질문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규칙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순차 분할해가며 예측한다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분할은 불순도를 가장 크게 줄이는 방향으로 선택되고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리프 노드의 다수 클래스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평균값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최종 예측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​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해석 용이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스케일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 불필요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비선형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상호작용을 자연스럽게 포착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트리는 과적합 위험 → 깊이 제한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규제가 필수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EF3765-656E-78BD-2C94-2C842760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76"/>
          <a:stretch>
            <a:fillRect/>
          </a:stretch>
        </p:blipFill>
        <p:spPr>
          <a:xfrm>
            <a:off x="6291348" y="0"/>
            <a:ext cx="4944533" cy="333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61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3448-7AAA-16EB-1FAF-09B7CEF82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FE6242-BFE6-08AB-A963-03806A8F76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035" y="115638"/>
            <a:ext cx="8032297" cy="624423"/>
          </a:xfrm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심층분석</a:t>
            </a:r>
            <a:r>
              <a:rPr lang="en-US" altLang="ko-KR" sz="2400">
                <a:cs typeface="KoPubWorld바탕체 Medium" panose="00000600000000000000" pitchFamily="2" charset="-127"/>
              </a:rPr>
              <a:t>: </a:t>
            </a:r>
            <a:r>
              <a:rPr lang="ko-KR" altLang="en-US" sz="2400">
                <a:cs typeface="KoPubWorld바탕체 Medium" panose="00000600000000000000" pitchFamily="2" charset="-127"/>
              </a:rPr>
              <a:t>랜덤 포레스트 </a:t>
            </a:r>
            <a:r>
              <a:rPr lang="en-US" altLang="ko-KR" sz="2400">
                <a:cs typeface="KoPubWorld바탕체 Medium" panose="00000600000000000000" pitchFamily="2" charset="-127"/>
              </a:rPr>
              <a:t>(Random Forest)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FCC4AA45-86BA-11F3-8B58-4770913ACBA0}"/>
              </a:ext>
            </a:extLst>
          </p:cNvPr>
          <p:cNvSpPr txBox="1">
            <a:spLocks/>
          </p:cNvSpPr>
          <p:nvPr/>
        </p:nvSpPr>
        <p:spPr>
          <a:xfrm>
            <a:off x="519035" y="2844798"/>
            <a:ext cx="11283498" cy="414866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개념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개의 결정트리를 제각각 다르게 학습시킨 뒤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 예측하여 분산을 줄임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노드에서 무작위 특성 부분집합만 고려하여 트리 간 상관을 낮춤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좋은 기본 성능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과적합에 상대적으로 강함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회귀 문제 사용 가능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8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트리보다 해석성↓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매우 희소한 고차원 텍스트 성능↓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​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51DB13-584F-07DB-1F23-18CEB18A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41" y="-1"/>
            <a:ext cx="5729059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26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971F-50B3-EAE0-AA64-15D2E49B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631886-7CF8-4E25-362B-FEAC624148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035" y="115638"/>
            <a:ext cx="8032297" cy="624423"/>
          </a:xfrm>
          <a:prstGeom prst="rect">
            <a:avLst/>
          </a:prstGeom>
        </p:spPr>
        <p:txBody>
          <a:bodyPr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ko-KR" sz="2400">
                <a:cs typeface="KoPubWorld바탕체 Medium" panose="00000600000000000000" pitchFamily="2" charset="-127"/>
              </a:rPr>
              <a:t> </a:t>
            </a:r>
            <a:r>
              <a:rPr lang="ko-KR" altLang="en-US" sz="2400">
                <a:cs typeface="KoPubWorld바탕체 Medium" panose="00000600000000000000" pitchFamily="2" charset="-127"/>
              </a:rPr>
              <a:t>심층분석</a:t>
            </a:r>
            <a:r>
              <a:rPr lang="en-US" altLang="ko-KR" sz="2400">
                <a:cs typeface="KoPubWorld바탕체 Medium" panose="00000600000000000000" pitchFamily="2" charset="-127"/>
              </a:rPr>
              <a:t>: Support Vector Machines (SVM)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59440656-5ECE-FCC1-7FFD-559297DE793F}"/>
              </a:ext>
            </a:extLst>
          </p:cNvPr>
          <p:cNvSpPr txBox="1">
            <a:spLocks/>
          </p:cNvSpPr>
          <p:nvPr/>
        </p:nvSpPr>
        <p:spPr>
          <a:xfrm>
            <a:off x="519035" y="1117599"/>
            <a:ext cx="11544627" cy="511131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개념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마진 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결정경계와 가장 가까운 점들 사이 거리</a:t>
            </a: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최대화하는 분류</a:t>
            </a:r>
            <a:endParaRPr lang="en-US" altLang="ko-KR" sz="2400" b="1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b="1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경계를 규정하는 서포트 벡터만으로 결정함 → 일반화에 유리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​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커널 트릭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선형으로 분리되지 않는 데이터도 커널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(RBF/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다항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 등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고차원 특징공간에서 선형 분리되도록 변환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indent="-342900" fontAlgn="base" latinLnBrk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하이퍼파라미터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 (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허용 정도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작을수록 마진 크게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일반화↑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Y (RBF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폭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클수록 경계 복잡↑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특성 수가 많고 경계가 비선형이고 명확한 마진이 있을 때 강력</a:t>
            </a:r>
            <a:r>
              <a:rPr lang="en-US" altLang="ko-KR" sz="2400" kern="0" spc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2400" kern="0" spc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446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19357</TotalTime>
  <Words>1530</Words>
  <Application>Microsoft Office PowerPoint</Application>
  <PresentationFormat>와이드스크린</PresentationFormat>
  <Paragraphs>219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KoPubWorld바탕체 Medium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choish</dc:creator>
  <cp:lastModifiedBy>최성혁</cp:lastModifiedBy>
  <cp:revision>943</cp:revision>
  <dcterms:created xsi:type="dcterms:W3CDTF">2022-02-02T04:32:22Z</dcterms:created>
  <dcterms:modified xsi:type="dcterms:W3CDTF">2025-12-02T07:28:38Z</dcterms:modified>
</cp:coreProperties>
</file>