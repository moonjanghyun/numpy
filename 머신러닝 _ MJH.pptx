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394" r:id="rId2"/>
    <p:sldId id="433" r:id="rId3"/>
    <p:sldId id="423" r:id="rId4"/>
    <p:sldId id="434" r:id="rId5"/>
    <p:sldId id="424" r:id="rId6"/>
    <p:sldId id="435" r:id="rId7"/>
    <p:sldId id="436" r:id="rId8"/>
    <p:sldId id="437" r:id="rId9"/>
    <p:sldId id="438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3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12D6A"/>
    <a:srgbClr val="8E0000"/>
    <a:srgbClr val="F4F4F4"/>
    <a:srgbClr val="4472C4"/>
    <a:srgbClr val="01384A"/>
    <a:srgbClr val="C8743E"/>
    <a:srgbClr val="262626"/>
    <a:srgbClr val="115054"/>
    <a:srgbClr val="2C44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6215" autoAdjust="0"/>
  </p:normalViewPr>
  <p:slideViewPr>
    <p:cSldViewPr snapToGrid="0" showGuides="1">
      <p:cViewPr varScale="1">
        <p:scale>
          <a:sx n="62" d="100"/>
          <a:sy n="62" d="100"/>
        </p:scale>
        <p:origin x="42" y="996"/>
      </p:cViewPr>
      <p:guideLst>
        <p:guide orient="horz" pos="731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DD21606-E1F2-4B97-92D1-DAFD45C02F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DE7504-E995-4FB2-8A43-D5D7468BFC5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2224D-1184-45AE-8BA6-1991448FAB4A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C423F3-CAF7-4940-839A-645C7FDAD4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01FC86-7DA0-458D-A79F-F298A2B274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E0067-DAD4-47D5-9E01-EB118C352F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08865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6B575A-33D8-471D-8367-A965AB842AA0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4702A0-409D-4B63-B3B2-61BA02D306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295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4702A0-409D-4B63-B3B2-61BA02D306D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731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40E6F34-DD57-F70B-AD4D-058AFEA5CC6F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4EC56D84-CE62-0522-0E0F-E9EC996E708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88524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_2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D56A8F1-AFFA-47E0-FB01-815F4F4BBE4C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C874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581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타이틀_3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83F7E24-3C5D-4443-AFE4-4BA3151E66DE}"/>
              </a:ext>
            </a:extLst>
          </p:cNvPr>
          <p:cNvSpPr/>
          <p:nvPr userDrawn="1"/>
        </p:nvSpPr>
        <p:spPr>
          <a:xfrm>
            <a:off x="0" y="6134668"/>
            <a:ext cx="12192000" cy="723332"/>
          </a:xfrm>
          <a:prstGeom prst="rect">
            <a:avLst/>
          </a:prstGeom>
          <a:solidFill>
            <a:srgbClr val="0138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6323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DEFF703-6D0A-12DA-4F9C-253FA7939A0C}"/>
              </a:ext>
            </a:extLst>
          </p:cNvPr>
          <p:cNvSpPr/>
          <p:nvPr userDrawn="1"/>
        </p:nvSpPr>
        <p:spPr>
          <a:xfrm>
            <a:off x="0" y="0"/>
            <a:ext cx="609600" cy="6858001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43298526-AD58-1323-5CC8-AA1DF19E38D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2994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소제목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EDCA37A-8397-42FE-9DF0-4199D2B82657}"/>
              </a:ext>
            </a:extLst>
          </p:cNvPr>
          <p:cNvSpPr/>
          <p:nvPr userDrawn="1"/>
        </p:nvSpPr>
        <p:spPr>
          <a:xfrm>
            <a:off x="1146628" y="-1"/>
            <a:ext cx="2612572" cy="6858001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D82F272-A6EB-492A-81F9-8C1D897B16C2}"/>
              </a:ext>
            </a:extLst>
          </p:cNvPr>
          <p:cNvSpPr/>
          <p:nvPr userDrawn="1"/>
        </p:nvSpPr>
        <p:spPr>
          <a:xfrm>
            <a:off x="5007429" y="0"/>
            <a:ext cx="71845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2815476-60D9-B3A4-A3F7-4E84F0A36B51}"/>
              </a:ext>
            </a:extLst>
          </p:cNvPr>
          <p:cNvCxnSpPr>
            <a:cxnSpLocks/>
          </p:cNvCxnSpPr>
          <p:nvPr userDrawn="1"/>
        </p:nvCxnSpPr>
        <p:spPr>
          <a:xfrm>
            <a:off x="3759200" y="3135086"/>
            <a:ext cx="8432800" cy="0"/>
          </a:xfrm>
          <a:prstGeom prst="line">
            <a:avLst/>
          </a:prstGeom>
          <a:ln w="6350">
            <a:solidFill>
              <a:srgbClr val="012D6A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3AD5DE8D-CF8B-27A5-97B4-331B0EEC6EE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56019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B435254-E8CC-4107-BAB3-2D503DF0BBA9}"/>
              </a:ext>
            </a:extLst>
          </p:cNvPr>
          <p:cNvSpPr txBox="1"/>
          <p:nvPr userDrawn="1"/>
        </p:nvSpPr>
        <p:spPr>
          <a:xfrm>
            <a:off x="11363067" y="6211884"/>
            <a:ext cx="621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C10F0811-F307-44F9-A192-63EBA736051C}" type="slidenum">
              <a:rPr lang="ko-KR" altLang="en-US" sz="110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돋움체 Light" panose="00000300000000000000" pitchFamily="2" charset="-127"/>
              </a:rPr>
              <a:pPr algn="ctr"/>
              <a:t>‹#›</a:t>
            </a:fld>
            <a:endParaRPr lang="ko-KR" altLang="en-US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돋움체 Light" panose="00000300000000000000" pitchFamily="2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5577CD6-5A45-4988-9298-FAC45821B30C}"/>
              </a:ext>
            </a:extLst>
          </p:cNvPr>
          <p:cNvCxnSpPr/>
          <p:nvPr userDrawn="1"/>
        </p:nvCxnSpPr>
        <p:spPr>
          <a:xfrm>
            <a:off x="11547567" y="6444919"/>
            <a:ext cx="252000" cy="0"/>
          </a:xfrm>
          <a:prstGeom prst="line">
            <a:avLst/>
          </a:prstGeom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텍스트 개체 틀 3">
            <a:extLst>
              <a:ext uri="{FF2B5EF4-FFF2-40B4-BE49-F238E27FC236}">
                <a16:creationId xmlns:a16="http://schemas.microsoft.com/office/drawing/2014/main" id="{2E72D198-9532-4DC7-A14A-C275A93777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036" y="115638"/>
            <a:ext cx="5576964" cy="62442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000" kern="100" spc="-80" baseline="0">
                <a:solidFill>
                  <a:srgbClr val="012D6A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Insert Slide Title Here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9D61C4-750A-4D61-B1CB-8E4516F9F89F}"/>
              </a:ext>
            </a:extLst>
          </p:cNvPr>
          <p:cNvSpPr/>
          <p:nvPr userDrawn="1"/>
        </p:nvSpPr>
        <p:spPr>
          <a:xfrm>
            <a:off x="0" y="6530859"/>
            <a:ext cx="12192000" cy="327142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3DF3A"/>
              </a:solidFill>
            </a:endParaRPr>
          </a:p>
        </p:txBody>
      </p:sp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31D66F8F-524D-D3D4-E38A-FD6E78FE2D7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80896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엔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DCC1D36-6D53-CE18-78C3-85DECE39C01B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012D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Picture 4" descr="경운대 시그니쳐 국문 세로형">
            <a:extLst>
              <a:ext uri="{FF2B5EF4-FFF2-40B4-BE49-F238E27FC236}">
                <a16:creationId xmlns:a16="http://schemas.microsoft.com/office/drawing/2014/main" id="{B5ABF9E3-AB34-3AEC-4F6B-C9BE03E920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209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경운대 시그니쳐 국문 세로형">
            <a:extLst>
              <a:ext uri="{FF2B5EF4-FFF2-40B4-BE49-F238E27FC236}">
                <a16:creationId xmlns:a16="http://schemas.microsoft.com/office/drawing/2014/main" id="{C389C341-BBAC-63DE-46D7-05E14529A5B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62" y="93915"/>
            <a:ext cx="1568871" cy="31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23160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7696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50" r:id="rId4"/>
    <p:sldLayoutId id="2147483651" r:id="rId5"/>
    <p:sldLayoutId id="2147483652" r:id="rId6"/>
    <p:sldLayoutId id="2147483653" r:id="rId7"/>
    <p:sldLayoutId id="2147483654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514ED904-6F12-0175-3109-D37C4594D19B}"/>
              </a:ext>
            </a:extLst>
          </p:cNvPr>
          <p:cNvGrpSpPr/>
          <p:nvPr/>
        </p:nvGrpSpPr>
        <p:grpSpPr>
          <a:xfrm>
            <a:off x="-2958530" y="-304607"/>
            <a:ext cx="2564008" cy="2505382"/>
            <a:chOff x="938705" y="667984"/>
            <a:chExt cx="2564008" cy="250538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42D2B76-C591-E65B-889F-9123990961D2}"/>
                </a:ext>
              </a:extLst>
            </p:cNvPr>
            <p:cNvSpPr txBox="1"/>
            <p:nvPr/>
          </p:nvSpPr>
          <p:spPr>
            <a:xfrm>
              <a:off x="964181" y="667984"/>
              <a:ext cx="469809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1200" spc="-40" dirty="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COLOR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37F24A9-01A7-DBD5-B082-5F95A9CB0E35}"/>
                </a:ext>
              </a:extLst>
            </p:cNvPr>
            <p:cNvSpPr txBox="1"/>
            <p:nvPr/>
          </p:nvSpPr>
          <p:spPr>
            <a:xfrm>
              <a:off x="964181" y="2143671"/>
              <a:ext cx="893001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1200" spc="-40" dirty="0">
                  <a:ln>
                    <a:solidFill>
                      <a:schemeClr val="accent1">
                        <a:shade val="50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FONT COLOR</a:t>
              </a: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791172D-98D4-B098-67D6-F35403622B44}"/>
                </a:ext>
              </a:extLst>
            </p:cNvPr>
            <p:cNvSpPr/>
            <p:nvPr/>
          </p:nvSpPr>
          <p:spPr>
            <a:xfrm>
              <a:off x="938705" y="2450034"/>
              <a:ext cx="723332" cy="723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ea typeface="맑은 고딕" panose="020B0503020000020004" pitchFamily="50" charset="-127"/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C7F70B6F-EE5E-3444-6F74-8772A64C6B51}"/>
                </a:ext>
              </a:extLst>
            </p:cNvPr>
            <p:cNvSpPr/>
            <p:nvPr/>
          </p:nvSpPr>
          <p:spPr>
            <a:xfrm>
              <a:off x="938705" y="978695"/>
              <a:ext cx="718458" cy="739483"/>
            </a:xfrm>
            <a:prstGeom prst="rect">
              <a:avLst/>
            </a:prstGeom>
            <a:solidFill>
              <a:srgbClr val="012D6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0110A09-C10A-49E4-E636-B32BF34DB60C}"/>
                </a:ext>
              </a:extLst>
            </p:cNvPr>
            <p:cNvSpPr/>
            <p:nvPr/>
          </p:nvSpPr>
          <p:spPr>
            <a:xfrm>
              <a:off x="1818791" y="958956"/>
              <a:ext cx="718458" cy="739483"/>
            </a:xfrm>
            <a:prstGeom prst="rect">
              <a:avLst/>
            </a:prstGeom>
            <a:solidFill>
              <a:srgbClr val="EDF3F8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C5C5839C-6B70-7CD1-41B6-42B999CC2602}"/>
                </a:ext>
              </a:extLst>
            </p:cNvPr>
            <p:cNvSpPr/>
            <p:nvPr/>
          </p:nvSpPr>
          <p:spPr>
            <a:xfrm>
              <a:off x="2784255" y="958956"/>
              <a:ext cx="718458" cy="739483"/>
            </a:xfrm>
            <a:prstGeom prst="rect">
              <a:avLst/>
            </a:prstGeom>
            <a:solidFill>
              <a:srgbClr val="F4F4F4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4BFC28B-396F-C0F5-333E-7B77F480B5F2}"/>
              </a:ext>
            </a:extLst>
          </p:cNvPr>
          <p:cNvSpPr txBox="1"/>
          <p:nvPr/>
        </p:nvSpPr>
        <p:spPr>
          <a:xfrm>
            <a:off x="0" y="-969399"/>
            <a:ext cx="1050036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디자인 변경이  안되는 부분은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보기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]-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슬라이드 마스터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]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에 들어가면 편집 가능합니다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슬라이드 좌우에 있는 샘플을 서식복사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, 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복사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,  </a:t>
            </a:r>
            <a:r>
              <a: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컬러  스포이드 해서 사용하면 작업이 편합니다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00"/>
              </a:highlight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49885EB2-243B-E592-8858-4564843EAEDA}"/>
              </a:ext>
            </a:extLst>
          </p:cNvPr>
          <p:cNvCxnSpPr>
            <a:cxnSpLocks/>
          </p:cNvCxnSpPr>
          <p:nvPr/>
        </p:nvCxnSpPr>
        <p:spPr>
          <a:xfrm>
            <a:off x="800100" y="3739384"/>
            <a:ext cx="8839846" cy="0"/>
          </a:xfrm>
          <a:prstGeom prst="line">
            <a:avLst/>
          </a:prstGeom>
          <a:ln w="28575">
            <a:solidFill>
              <a:srgbClr val="012D6A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27A1FEB-E937-57EA-48E7-652437A621C3}"/>
              </a:ext>
            </a:extLst>
          </p:cNvPr>
          <p:cNvSpPr txBox="1"/>
          <p:nvPr/>
        </p:nvSpPr>
        <p:spPr>
          <a:xfrm>
            <a:off x="749433" y="1974950"/>
            <a:ext cx="1069313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kern="100" spc="-80">
                <a:solidFill>
                  <a:srgbClr val="012D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What is Machine Learning ?  </a:t>
            </a:r>
          </a:p>
          <a:p>
            <a:endParaRPr lang="en-US" altLang="ko-KR" sz="3600" kern="100" spc="-8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r>
              <a:rPr lang="ko-KR" altLang="en-US" sz="3600" kern="100" spc="-80">
                <a:solidFill>
                  <a:srgbClr val="012D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데이터로부터 모델을 만드는 방법</a:t>
            </a:r>
            <a:endParaRPr lang="ko-KR" altLang="en-US" sz="36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1BA6B1-2250-09B4-0663-74983F403B2C}"/>
              </a:ext>
            </a:extLst>
          </p:cNvPr>
          <p:cNvSpPr txBox="1"/>
          <p:nvPr/>
        </p:nvSpPr>
        <p:spPr>
          <a:xfrm>
            <a:off x="800100" y="4475867"/>
            <a:ext cx="5093016" cy="1101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endParaRPr lang="en-US" altLang="ko-KR" sz="1400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산업공정</a:t>
            </a:r>
            <a:r>
              <a:rPr lang="en-US" altLang="ko-KR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AI</a:t>
            </a: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융합학과 석사</a:t>
            </a:r>
            <a:r>
              <a:rPr lang="en-US" altLang="ko-KR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 1</a:t>
            </a: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학년 </a:t>
            </a:r>
            <a:endParaRPr lang="en-US" altLang="ko-KR" sz="1600" b="1" kern="100" spc="-8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600" b="1" kern="100" spc="-80">
                <a:solidFill>
                  <a:schemeClr val="tx1">
                    <a:lumMod val="95000"/>
                    <a:lumOff val="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Bold" panose="00000800000000000000" pitchFamily="2" charset="-127"/>
              </a:rPr>
              <a:t>문 장 현 </a:t>
            </a:r>
            <a:endParaRPr lang="en-US" altLang="ko-KR" sz="1600" b="1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  <a:p>
            <a:pPr>
              <a:lnSpc>
                <a:spcPct val="130000"/>
              </a:lnSpc>
            </a:pPr>
            <a:endParaRPr lang="en-US" altLang="ko-KR" sz="500" b="1" kern="100" spc="-80" dirty="0">
              <a:solidFill>
                <a:schemeClr val="tx1">
                  <a:lumMod val="95000"/>
                  <a:lumOff val="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Bold" panose="000008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ED1BC36-7FF9-E001-AEB4-B4FA2379902C}"/>
              </a:ext>
            </a:extLst>
          </p:cNvPr>
          <p:cNvGrpSpPr/>
          <p:nvPr/>
        </p:nvGrpSpPr>
        <p:grpSpPr>
          <a:xfrm>
            <a:off x="12458698" y="-71137"/>
            <a:ext cx="4941149" cy="2463403"/>
            <a:chOff x="6433696" y="1201078"/>
            <a:chExt cx="4941149" cy="246340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14F5FC-625D-7632-3493-CC7590A99990}"/>
                </a:ext>
              </a:extLst>
            </p:cNvPr>
            <p:cNvSpPr txBox="1"/>
            <p:nvPr/>
          </p:nvSpPr>
          <p:spPr>
            <a:xfrm>
              <a:off x="6433696" y="1723698"/>
              <a:ext cx="4941149" cy="3770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본문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: KoPubWorld</a:t>
              </a: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바탕체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Light" panose="00000300000000000000" pitchFamily="2" charset="-127"/>
                </a:rPr>
                <a:t> Light 16pt</a:t>
              </a:r>
              <a:endParaRPr lang="ko-KR" altLang="en-US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Light" panose="000003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AB7BC80-EC9C-EF7C-D6DC-1822084E8207}"/>
                </a:ext>
              </a:extLst>
            </p:cNvPr>
            <p:cNvSpPr txBox="1"/>
            <p:nvPr/>
          </p:nvSpPr>
          <p:spPr>
            <a:xfrm>
              <a:off x="6433696" y="3216153"/>
              <a:ext cx="4941149" cy="448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인용구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Lite 20pt</a:t>
              </a:r>
              <a:endParaRPr lang="ko-KR" altLang="en-US" sz="24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33BA3AB-D5D9-992E-78A2-0C97F0AEF27F}"/>
                </a:ext>
              </a:extLst>
            </p:cNvPr>
            <p:cNvSpPr txBox="1"/>
            <p:nvPr/>
          </p:nvSpPr>
          <p:spPr>
            <a:xfrm>
              <a:off x="6433696" y="2208615"/>
              <a:ext cx="4941149" cy="3770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본문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sz="16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Medium 16pt</a:t>
              </a:r>
              <a:endParaRPr lang="ko-KR" altLang="en-US" sz="20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AB2BB1-C626-A88F-8028-D243B6FE6625}"/>
                </a:ext>
              </a:extLst>
            </p:cNvPr>
            <p:cNvSpPr txBox="1"/>
            <p:nvPr/>
          </p:nvSpPr>
          <p:spPr>
            <a:xfrm>
              <a:off x="6433696" y="2693532"/>
              <a:ext cx="4941149" cy="412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본문</a:t>
              </a:r>
              <a:r>
                <a:rPr lang="en-US" altLang="ko-KR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: KoPubWorld</a:t>
              </a:r>
              <a:r>
                <a:rPr lang="ko-KR" altLang="en-US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바탕체</a:t>
              </a:r>
              <a:r>
                <a:rPr lang="en-US" altLang="ko-KR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바탕체 Medium" panose="00000600000000000000" pitchFamily="2" charset="-127"/>
                </a:rPr>
                <a:t> Medium 18pt</a:t>
              </a:r>
              <a:endParaRPr lang="ko-KR" altLang="en-US" sz="24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바탕체 Medium" panose="00000600000000000000" pitchFamily="2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07AD5B8-4F98-81A0-610B-E34241ACC4D1}"/>
                </a:ext>
              </a:extLst>
            </p:cNvPr>
            <p:cNvSpPr txBox="1"/>
            <p:nvPr/>
          </p:nvSpPr>
          <p:spPr>
            <a:xfrm>
              <a:off x="6433696" y="1201078"/>
              <a:ext cx="4941149" cy="448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제목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: KoPubWorld</a:t>
              </a:r>
              <a:r>
                <a:rPr lang="ko-KR" altLang="en-US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돋움체</a:t>
              </a:r>
              <a:r>
                <a:rPr lang="en-US" altLang="ko-KR" sz="2000" kern="100" spc="-80" dirty="0">
                  <a:solidFill>
                    <a:srgbClr val="0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KoPubWorld돋움체 Bold" panose="00000800000000000000" pitchFamily="2" charset="-127"/>
                </a:rPr>
                <a:t> Bold 20pt</a:t>
              </a:r>
              <a:endParaRPr lang="ko-KR" altLang="en-US" sz="2800" kern="100" spc="-8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63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9965D-27F4-0506-2102-BF00A59A0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2A06B6-29E4-EFA1-8B7D-313BFAF8C9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목표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DB3FF366-A276-617D-3ADA-EB78AAC73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BC144DF-E21B-333B-5B86-C5052D920DED}"/>
              </a:ext>
            </a:extLst>
          </p:cNvPr>
          <p:cNvSpPr txBox="1">
            <a:spLocks/>
          </p:cNvSpPr>
          <p:nvPr/>
        </p:nvSpPr>
        <p:spPr>
          <a:xfrm>
            <a:off x="688877" y="1050010"/>
            <a:ext cx="10814245" cy="475798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데이터로부터 수학적 모델을 학습하는 과정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이해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대표 문제 유형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 정리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축소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300000"/>
              </a:lnSpc>
              <a:spcBef>
                <a:spcPts val="0"/>
              </a:spcBef>
              <a:spcAft>
                <a:spcPts val="500"/>
              </a:spcAft>
              <a:buFont typeface="Wingdings" panose="05000000000000000000" pitchFamily="2" charset="2"/>
              <a:buChar char="ü"/>
            </a:pP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scikit-learn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으로 예제 실습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8933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376B8-1B78-AE10-2682-086CE6773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53DE97-6566-C202-F44D-AF1FB52573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머신러닝이란</a:t>
            </a:r>
            <a:r>
              <a:rPr lang="en-US" altLang="ko-KR" sz="2400">
                <a:cs typeface="KoPubWorld바탕체 Medium" panose="00000600000000000000" pitchFamily="2" charset="-127"/>
              </a:rPr>
              <a:t>?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E6E96B9-23FB-76E0-DB60-34768FE6B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B0B6FF0D-B2B1-847B-E2A8-69B7A8353613}"/>
              </a:ext>
            </a:extLst>
          </p:cNvPr>
          <p:cNvSpPr txBox="1">
            <a:spLocks/>
          </p:cNvSpPr>
          <p:nvPr/>
        </p:nvSpPr>
        <p:spPr>
          <a:xfrm>
            <a:off x="519036" y="1254171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데이터를 이해하고 예측하기 위한 수학적 모델을 학습하는 과정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과학에서는 “데이터 → 모델 → 새로운 데이터 예측”이 핵심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모델에는 조정 가능한 파라미터가 있고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 값을 맞추는 과정이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학습된 모델은 새 데이터에 대해 </a:t>
            </a: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 이해에 사용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0292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DCB45-839F-D297-8498-F22851300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C4704D-DB1C-F907-3706-002044FBDC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머신 러닝 분류</a:t>
            </a:r>
            <a:endParaRPr lang="en-US" altLang="ko-KR" sz="2400"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70877F-530C-E0E4-C7A2-29CFBE1A3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7E0A3D76-1ABD-042E-D967-78B6493C693A}"/>
              </a:ext>
            </a:extLst>
          </p:cNvPr>
          <p:cNvSpPr txBox="1">
            <a:spLocks/>
          </p:cNvSpPr>
          <p:nvPr/>
        </p:nvSpPr>
        <p:spPr>
          <a:xfrm>
            <a:off x="519036" y="1254171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지도 학습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(Supervised) 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특징과 정답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모두 있음 →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정답 맞히기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분류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(Classification)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정해진 카테고리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라벨이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종류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”)</a:t>
            </a:r>
            <a:endParaRPr lang="en-US" altLang="ko-KR" sz="20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회귀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(Regression)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연속값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라벨이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숫자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”)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비지도 학습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(Unsupervised) :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 없이 구조 찾기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fontAlgn="base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(Clustering)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레이블이 지정되지 않은 데이터에 대한 레이블 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fontAlgn="base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-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축소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(Dimension Reduction) :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레이블이 지정되지 않은 데이터의 구조 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24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0407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129B-080F-35E6-6949-445A71EEE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2101506-257A-4F5B-DAA8-D7B00B0A05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분류 </a:t>
            </a:r>
            <a:r>
              <a:rPr lang="en-US" altLang="ko-KR" sz="2400">
                <a:cs typeface="KoPubWorld바탕체 Medium" panose="00000600000000000000" pitchFamily="2" charset="-127"/>
              </a:rPr>
              <a:t>(Classification)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CFDDAE86-7668-A93B-3F3A-FFAEB51EE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99032D83-E8AE-6BF0-E67D-595C6A705093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70FAF657-588C-2705-3656-5986B67A868C}"/>
              </a:ext>
            </a:extLst>
          </p:cNvPr>
          <p:cNvSpPr txBox="1">
            <a:spLocks/>
          </p:cNvSpPr>
          <p:nvPr/>
        </p:nvSpPr>
        <p:spPr>
          <a:xfrm>
            <a:off x="534534" y="287018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차원 평면에 파란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빨간 점이 섞여 있음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직선을 하나 그어서 양쪽 클래스를 나누는 모델을 학습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스팸메일 분류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질병 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불량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 → 분류에 해당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데이터로 경계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직선의 위치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기울기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를 배우고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 점이 들어오면 라벨 부여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예측 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(prediction)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9" name="Picture 5">
            <a:extLst>
              <a:ext uri="{FF2B5EF4-FFF2-40B4-BE49-F238E27FC236}">
                <a16:creationId xmlns:a16="http://schemas.microsoft.com/office/drawing/2014/main" id="{4721EE7A-4AB2-BFDC-CF2E-BDBD2D9C0C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39" t="5065" r="8581" b="4878"/>
          <a:stretch>
            <a:fillRect/>
          </a:stretch>
        </p:blipFill>
        <p:spPr bwMode="auto">
          <a:xfrm>
            <a:off x="7640664" y="498176"/>
            <a:ext cx="4551336" cy="3665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01D13CE-66F1-D352-D1FD-E997EC6406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29"/>
          <a:stretch>
            <a:fillRect/>
          </a:stretch>
        </p:blipFill>
        <p:spPr>
          <a:xfrm>
            <a:off x="534534" y="3837876"/>
            <a:ext cx="7447093" cy="266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069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D76FC-A734-8FFD-F820-CB2F9267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A17217-9A00-7C3A-D1C9-8A7F476CC3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회귀 </a:t>
            </a:r>
            <a:r>
              <a:rPr lang="en-US" altLang="ko-KR" sz="2400">
                <a:cs typeface="KoPubWorld바탕체 Medium" panose="00000600000000000000" pitchFamily="2" charset="-127"/>
              </a:rPr>
              <a:t>(Regression)</a:t>
            </a:r>
            <a:r>
              <a:rPr lang="ko-KR" altLang="en-US" sz="2400">
                <a:cs typeface="KoPubWorld바탕체 Medium" panose="00000600000000000000" pitchFamily="2" charset="-127"/>
              </a:rPr>
              <a:t> 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FA4B8AEF-4CBE-9462-EDC6-7B4D4683FAB1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5B05D335-E3C5-1A99-C713-4F06CBF3B914}"/>
              </a:ext>
            </a:extLst>
          </p:cNvPr>
          <p:cNvSpPr txBox="1">
            <a:spLocks/>
          </p:cNvSpPr>
          <p:nvPr/>
        </p:nvSpPr>
        <p:spPr>
          <a:xfrm>
            <a:off x="564263" y="181580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데이터는 각각 연속적인 레이블 점 집합으로 구성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                                                                   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2D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특징 위에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3D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또는 곡면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맞춰서 예측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선형 회귀 모델을 학습시켜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새로운 입력에 대한 예측 값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추론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라벨 있는 데이터로 연속적인 함수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곡선을 배우고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 점이 오면 그 함수 위의 값을 읽어서 숫자로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예측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A6DAB47-09F5-EDC7-6E03-BC97003CB2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6" t="3561" r="4097" b="4947"/>
          <a:stretch>
            <a:fillRect/>
          </a:stretch>
        </p:blipFill>
        <p:spPr bwMode="auto">
          <a:xfrm>
            <a:off x="564263" y="3959274"/>
            <a:ext cx="7510360" cy="25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EFB10596-77FF-DC46-3DCF-7ABA038098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0" t="16244" r="10840" b="11068"/>
          <a:stretch>
            <a:fillRect/>
          </a:stretch>
        </p:blipFill>
        <p:spPr bwMode="auto">
          <a:xfrm>
            <a:off x="8601559" y="445276"/>
            <a:ext cx="3549112" cy="284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D9EE6D1-12F1-B303-9DDA-B93C60058F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8" t="5522" r="8850" b="5971"/>
          <a:stretch>
            <a:fillRect/>
          </a:stretch>
        </p:blipFill>
        <p:spPr bwMode="auto">
          <a:xfrm>
            <a:off x="8382202" y="3192659"/>
            <a:ext cx="3703691" cy="2677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485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DED3-0648-C981-C81D-B496AAB8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2C6DC95-2E88-13FF-B156-64B3700DDF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비지도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</a:t>
            </a:r>
            <a:r>
              <a:rPr lang="ko-KR" altLang="en-US" sz="2400">
                <a:cs typeface="KoPubWorld바탕체 Medium" panose="00000600000000000000" pitchFamily="2" charset="-127"/>
              </a:rPr>
              <a:t> 군집 </a:t>
            </a:r>
            <a:r>
              <a:rPr lang="en-US" altLang="ko-KR" sz="2400">
                <a:cs typeface="KoPubWorld바탕체 Medium" panose="00000600000000000000" pitchFamily="2" charset="-127"/>
              </a:rPr>
              <a:t>(Clustering)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A30D24B0-AD64-6AB8-E009-10B81549B680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06BAAC8-5768-A0F9-F7A4-A21E94B76959}"/>
              </a:ext>
            </a:extLst>
          </p:cNvPr>
          <p:cNvSpPr txBox="1">
            <a:spLocks/>
          </p:cNvSpPr>
          <p:nvPr/>
        </p:nvSpPr>
        <p:spPr>
          <a:xfrm>
            <a:off x="519035" y="334861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라벨링이 되어 있지 않은 데이터들 내에서 비슷한 특징이나 패턴을 가진 데이터들끼리     군집화한 후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새로운 데이터가 어떤 군집에 속하는지 추론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모델은 데이터의 고유한 구조를 사용하여 어떤 점이 서로 관연있는지 파악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평균 알고리즘을 사용하여 클러스터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군집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탐색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                 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813D922-E3F6-EF7E-5E4E-BE5FB4D4DA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96" t="4702" r="7718" b="5854"/>
          <a:stretch>
            <a:fillRect/>
          </a:stretch>
        </p:blipFill>
        <p:spPr bwMode="auto">
          <a:xfrm>
            <a:off x="907066" y="3097314"/>
            <a:ext cx="4348073" cy="3408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1E2E8F7-1682-29C2-F1F1-B9F14CDDF4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11" t="4767" r="7204" b="5789"/>
          <a:stretch>
            <a:fillRect/>
          </a:stretch>
        </p:blipFill>
        <p:spPr bwMode="auto">
          <a:xfrm>
            <a:off x="5926158" y="3115033"/>
            <a:ext cx="4348073" cy="3408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823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85101-A918-9D8B-B5EE-6B147817C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3D94AC-6E7A-72EF-FC14-4A3DC7FF9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400">
                <a:cs typeface="KoPubWorld바탕체 Medium" panose="00000600000000000000" pitchFamily="2" charset="-127"/>
              </a:rPr>
              <a:t>비지도 학습 </a:t>
            </a:r>
            <a:r>
              <a:rPr lang="en-US" altLang="ko-KR" sz="2400">
                <a:cs typeface="KoPubWorld바탕체 Medium" panose="00000600000000000000" pitchFamily="2" charset="-127"/>
              </a:rPr>
              <a:t>- </a:t>
            </a:r>
            <a:r>
              <a:rPr lang="ko-KR" altLang="en-US" sz="2400">
                <a:cs typeface="KoPubWorld바탕체 Medium" panose="00000600000000000000" pitchFamily="2" charset="-127"/>
              </a:rPr>
              <a:t>차원 축소</a:t>
            </a:r>
            <a:endParaRPr lang="en-US" altLang="ko-KR" sz="2400" kern="100" spc="-80" dirty="0">
              <a:solidFill>
                <a:srgbClr val="012D6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KoPubWorld바탕체 Medium" panose="00000600000000000000" pitchFamily="2" charset="-127"/>
            </a:endParaRP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0B0C5D7B-2754-DC15-779F-C35495C0F504}"/>
              </a:ext>
            </a:extLst>
          </p:cNvPr>
          <p:cNvSpPr txBox="1">
            <a:spLocks/>
          </p:cNvSpPr>
          <p:nvPr/>
        </p:nvSpPr>
        <p:spPr>
          <a:xfrm>
            <a:off x="519036" y="2155761"/>
            <a:ext cx="10814245" cy="145534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1800" b="1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R="0" fontAlgn="base" latinLnBrk="1">
              <a:lnSpc>
                <a:spcPct val="16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400" b="1" kern="0" spc="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ECE8E0E-4526-9976-7D39-0B4F72D0E504}"/>
              </a:ext>
            </a:extLst>
          </p:cNvPr>
          <p:cNvSpPr txBox="1">
            <a:spLocks/>
          </p:cNvSpPr>
          <p:nvPr/>
        </p:nvSpPr>
        <p:spPr>
          <a:xfrm>
            <a:off x="519034" y="567336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데이터의 차원이란 데이터를 구성하고 있는 속성의 개수를 의미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높은 차원의 데이터를 낮은 차원으로 줄여 특징을 살펴보는 기법</a:t>
            </a:r>
            <a:r>
              <a:rPr lang="en-US" altLang="ko-KR" sz="2000" b="1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 성분 분석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(PCA),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특이값 분해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(SVD)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알고리즘을 사용하여 원본 데이터에 있는 속성의    무결성을 손상시키지 않고 데이터 입력 수를 줄임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고차원 데이터 시각화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노이즈 제거에 유용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                                             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altLang="ko-KR" sz="20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</a:p>
          <a:p>
            <a:pPr marR="0" fontAlgn="base" latinLnBrk="1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C789349-EA00-BE3E-96EC-D9190F456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854737" y="3687851"/>
            <a:ext cx="8142838" cy="267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5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DBD72-3602-B4F2-8421-F8982E36F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1E271C-7113-0ADD-BAB1-59F87B3C9E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177800" indent="-1778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400">
                <a:cs typeface="KoPubWorld바탕체 Medium" panose="00000600000000000000" pitchFamily="2" charset="-127"/>
              </a:rPr>
              <a:t>Scikit - Learn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3BC35478-6718-68FD-64DB-F5868298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4088" y="200464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7A690968-612A-A176-4355-3180FFC9AC08}"/>
              </a:ext>
            </a:extLst>
          </p:cNvPr>
          <p:cNvSpPr txBox="1">
            <a:spLocks/>
          </p:cNvSpPr>
          <p:nvPr/>
        </p:nvSpPr>
        <p:spPr>
          <a:xfrm>
            <a:off x="519036" y="1871631"/>
            <a:ext cx="10814245" cy="434965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lnSpc>
                <a:spcPct val="13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spc="-15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파이썬에서 가장 널리 쓰는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ML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라이브러리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4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일관된 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API – fit(), predict(), transform()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패턴만 알면 대부분 모델 사용 가능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R="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endParaRPr lang="en-US" altLang="ko-KR" sz="8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US" altLang="ko-KR" sz="2000" kern="0" spc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marR="0" indent="-342900" fontAlgn="base" latinLnBrk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다양한 자료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기본값이 존재 → 교육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연구에 사용하기 좋음</a:t>
            </a:r>
            <a:r>
              <a:rPr lang="en-US" altLang="ko-KR" sz="2400" kern="0" spc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2050" name="Picture 2" descr="scikit-learn - Wikipedia">
            <a:extLst>
              <a:ext uri="{FF2B5EF4-FFF2-40B4-BE49-F238E27FC236}">
                <a16:creationId xmlns:a16="http://schemas.microsoft.com/office/drawing/2014/main" id="{C4A94CE1-0C6B-CCCF-7D62-BBE574C63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0736" y="660554"/>
            <a:ext cx="4485467" cy="2422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6324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5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bg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24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13479</TotalTime>
  <Words>532</Words>
  <Application>Microsoft Office PowerPoint</Application>
  <PresentationFormat>와이드스크린</PresentationFormat>
  <Paragraphs>78</Paragraphs>
  <Slides>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KoPubWorld바탕체 Medium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choish</dc:creator>
  <cp:lastModifiedBy>최성혁</cp:lastModifiedBy>
  <cp:revision>913</cp:revision>
  <dcterms:created xsi:type="dcterms:W3CDTF">2022-02-02T04:32:22Z</dcterms:created>
  <dcterms:modified xsi:type="dcterms:W3CDTF">2025-11-11T07:26:55Z</dcterms:modified>
</cp:coreProperties>
</file>